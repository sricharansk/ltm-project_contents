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1" r:id="rId15"/>
    <p:sldId id="2147470502" r:id="rId16"/>
    <p:sldId id="2147470503" r:id="rId17"/>
    <p:sldId id="2147470504" r:id="rId18"/>
    <p:sldId id="2147470494" r:id="rId6"/>
    <p:sldId id="2147470497" r:id="rId7"/>
    <p:sldId id="2147470505" r:id="rId19"/>
    <p:sldId id="2147470498" r:id="rId8"/>
    <p:sldId id="2147470500" r:id="rId9"/>
    <p:sldId id="2147470499" r:id="rId10"/>
    <p:sldId id="2147470506" r:id="rId20"/>
    <p:sldId id="2147470507" r:id="rId21"/>
    <p:sldId id="2147470508" r:id="rId22"/>
    <p:sldId id="2147470509" r:id="rId23"/>
    <p:sldId id="2147470510" r:id="rId24"/>
    <p:sldId id="2147470511" r:id="rId25"/>
    <p:sldId id="2147470512" r:id="rId26"/>
    <p:sldId id="2147470513" r:id="rId27"/>
    <p:sldId id="2147470514" r:id="rId28"/>
    <p:sldId id="2147470515" r:id="rId29"/>
    <p:sldId id="2147470516" r:id="rId30"/>
    <p:sldId id="2147470517" r:id="rId31"/>
    <p:sldId id="2147470518" r:id="rId32"/>
    <p:sldId id="214747051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2.xml"/><Relationship Id="rId9" Type="http://schemas.openxmlformats.org/officeDocument/2006/relationships/slide" Target="slides/slide13.xml"/><Relationship Id="rId10" Type="http://schemas.openxmlformats.org/officeDocument/2006/relationships/slide" Target="slides/slide14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11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1F4E79"/>
                </a:solidFill>
                <a:latin typeface="Calibri"/>
              </a:rPr>
              <a:t>Claims by line of business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1C4D98"/>
            </a:solidFill>
          </c:spPr>
          <c:cat>
            <c:strRef>
              <c:f>Sheet1!$A$2:$A$5</c:f>
              <c:strCache>
                <c:ptCount val="4"/>
                <c:pt idx="0">
                  <c:v>Health</c:v>
                </c:pt>
                <c:pt idx="1">
                  <c:v>Burglary</c:v>
                </c:pt>
                <c:pt idx="2">
                  <c:v>Fire</c:v>
                </c:pt>
                <c:pt idx="3">
                  <c:v>Motor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393</c:v>
                </c:pt>
                <c:pt idx="1">
                  <c:v>379</c:v>
                </c:pt>
                <c:pt idx="2">
                  <c:v>365</c:v>
                </c:pt>
                <c:pt idx="3">
                  <c:v>363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2424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300">
                <a:solidFill>
                  <a:srgbClr val="24242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1F4E79"/>
                </a:solidFill>
                <a:latin typeface="Calibri"/>
              </a:rPr>
              <a:t>Incidents by trade (n = 1,000)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3793A6"/>
            </a:solidFill>
          </c:spPr>
          <c:cat>
            <c:strRef>
              <c:f>Sheet1!$A$2:$A$8</c:f>
              <c:strCache>
                <c:ptCount val="7"/>
                <c:pt idx="0">
                  <c:v>PPE compliance</c:v>
                </c:pt>
                <c:pt idx="1">
                  <c:v>Electrical</c:v>
                </c:pt>
                <c:pt idx="2">
                  <c:v>Scaffolding</c:v>
                </c:pt>
                <c:pt idx="3">
                  <c:v>Hot work</c:v>
                </c:pt>
                <c:pt idx="4">
                  <c:v>Crane &amp; rigging</c:v>
                </c:pt>
                <c:pt idx="5">
                  <c:v>Concreting</c:v>
                </c:pt>
                <c:pt idx="6">
                  <c:v>Excavation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177</c:v>
                </c:pt>
                <c:pt idx="1">
                  <c:v>150</c:v>
                </c:pt>
                <c:pt idx="2">
                  <c:v>144</c:v>
                </c:pt>
                <c:pt idx="3">
                  <c:v>144</c:v>
                </c:pt>
                <c:pt idx="4">
                  <c:v>134</c:v>
                </c:pt>
                <c:pt idx="5">
                  <c:v>126</c:v>
                </c:pt>
                <c:pt idx="6">
                  <c:v>125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2424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300">
                <a:solidFill>
                  <a:srgbClr val="24242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591056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3600" b="1">
                <a:solidFill>
                  <a:srgbClr val="FFFFFF"/>
                </a:solidFill>
                <a:latin typeface="Calibri"/>
              </a:rPr>
              <a:t>Review II</a:t>
            </a:r>
          </a:p>
          <a:p>
            <a:pPr algn="ctr">
              <a:spcBef>
                <a:spcPts val="10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Project 1: Claim Sense: RAG-Based Insurance Claims Adjudication &amp; Policy Knowledge Assistant</a:t>
            </a:r>
          </a:p>
          <a:p>
            <a:pPr algn="ctr">
              <a:spcBef>
                <a:spcPts val="10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Project 2: Site Guard: AI Multi-Agent Construction Safety &amp; Quality Incident Resolution System</a:t>
            </a:r>
          </a:p>
          <a:p>
            <a:pPr algn="ctr">
              <a:spcBef>
                <a:spcPts val="30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S K Sricharan</a:t>
            </a:r>
          </a:p>
          <a:p>
            <a:pPr algn="ctr">
              <a:spcBef>
                <a:spcPts val="400"/>
              </a:spcBef>
            </a:pPr>
            <a:r>
              <a:rPr sz="2400" b="1">
                <a:solidFill>
                  <a:srgbClr val="FFFFFF"/>
                </a:solidFill>
                <a:latin typeface="Calibri"/>
              </a:rPr>
              <a:t>T-SERIES: T9984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The problem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Insurers adjudicate thousands of P&amp;C and health claims monthly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Adjusters search long policy wordings by hand: 5–10 days per claim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Missed exclusion clauses cause claim leakage (over/under-payment)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Different adjusters reach inconsistent decisions on similar claims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What Claim Sense does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Retrieves the relevant policy clauses, scores fraud risk and recommends Approve / Investigate / Deny with cited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Design a RAG-based claims adjudication assistant that can: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Build a knowledge base of policy wordings, exclusions &amp; IRDAI rules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Score each claim’s fraud / anomaly risk: Low, Medium or High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Retrieve and cite the exact policy clause behind every decision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Recommend Approve / Investigate / Deny with clear reasoning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Serve adjusters via a dashboard; deploy on Azure with MLOps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6052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Task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800" b="0">
                <a:solidFill>
                  <a:srgbClr val="242424"/>
                </a:solidFill>
                <a:latin typeface="Calibri"/>
              </a:rPr>
              <a:t>Create realistic, labelled claims without using real customer PII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Implementation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1,500 claims across 4 lines: Fire, Health, Motor, Burglary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15 Indian-context incident narratives, 7 of them fraud-prone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Fraud-prone claims: early incident, high claim-to-cover ratio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Pydantic schema (ClaimInput) validates every record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Synthetic Claims Data Generation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80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596128"/>
            <a:ext cx="7223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Calibri"/>
              </a:rPr>
              <a:t>Code: src/data/generate_synthetic_data.py, src/data/schema.py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6052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Task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800" b="0">
                <a:solidFill>
                  <a:srgbClr val="242424"/>
                </a:solidFill>
                <a:latin typeface="Calibri"/>
              </a:rPr>
              <a:t>Find the policy clauses that apply to each incoming claim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Implementation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17 clauses: 4 coverage, 11 exclusions, 1 condition, 1 IRDAI circular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IDF-weighted keyword match with partial-token matching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Boosts: same policy type ×2.2, regulatory guideline ×1.3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Returns the top-3 clauses with a normalised relevance score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Policy Knowledge Base &amp; Retriever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80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596128"/>
            <a:ext cx="7223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Calibri"/>
              </a:rPr>
              <a:t>Code: src/rag/corpus.py, build_knowledge_base.py, retriever.py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6052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Task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800" b="0">
                <a:solidFill>
                  <a:srgbClr val="242424"/>
                </a:solidFill>
                <a:latin typeface="Calibri"/>
              </a:rPr>
              <a:t>Assign every claim an explainable risk score from 0 to 100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Implementation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4 signals: cover utilisation, policy age, prior claims, narrative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Weights: ≤15 days old +32, ≥90% of cover +28, ≥3 prior claims +22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15 weighted red-flag keywords (e.g. alcohol, unoccupied)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Score → Low (&lt;35), Medium (35–64), High (≥65)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Fraud &amp; Anomaly Risk Classifier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80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596128"/>
            <a:ext cx="7223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Calibri"/>
              </a:rPr>
              <a:t>Code: src/ml/classifier.py, src/ml/train_classifier.py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6052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Task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800" b="0">
                <a:solidFill>
                  <a:srgbClr val="242424"/>
                </a:solidFill>
                <a:latin typeface="Calibri"/>
              </a:rPr>
              <a:t>Turn risk score + retrieved clauses into a cited recommendation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Implementation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Triggered exclusion → Deny, with repudiation notice citing clause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High or Medium risk → Flag for Investigation + action items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Low risk, no exclusion → Approve under the cited coverage clause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Outputs rationale, risk factors, cover ratio and policy 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– Adjudication &amp; Citation Engine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80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596128"/>
            <a:ext cx="7223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Calibri"/>
              </a:rPr>
              <a:t>Code: src/rag/chain.py (AdjudicationEngine)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6052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Task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800" b="0">
                <a:solidFill>
                  <a:srgbClr val="242424"/>
                </a:solidFill>
                <a:latin typeface="Calibri"/>
              </a:rPr>
              <a:t>Expose the engine to adjusters and verify its behaviour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Implementation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FastAPI (port 8080): adjudicate, claims, policies, analytics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Streamlit (port 8501): Adjudicate, Queue, Analytics, Policy KB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4 unit tests pass: approve, deny, investigate, retriever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VS Code workspace, setup.ps1 and docker-compose for local run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– API, Dashboard &amp; Testing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80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596128"/>
            <a:ext cx="7223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Calibri"/>
              </a:rPr>
              <a:t>Code: src/api/main.py, src/dashboard/app.py, tests/test_adjudication.py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54864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Methodology followed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Methodology / Modelling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874519"/>
            <a:ext cx="1988819" cy="914400"/>
          </a:xfrm>
          <a:prstGeom prst="homePlat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Synthetic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7" name="Chevron 6"/>
          <p:cNvSpPr/>
          <p:nvPr/>
        </p:nvSpPr>
        <p:spPr>
          <a:xfrm>
            <a:off x="2290572" y="1874519"/>
            <a:ext cx="1988819" cy="914400"/>
          </a:xfrm>
          <a:prstGeom prst="chevron">
            <a:avLst/>
          </a:prstGeom>
          <a:solidFill>
            <a:srgbClr val="266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Policy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knowledge base</a:t>
            </a:r>
          </a:p>
        </p:txBody>
      </p:sp>
      <p:sp>
        <p:nvSpPr>
          <p:cNvPr id="8" name="Chevron 7"/>
          <p:cNvSpPr/>
          <p:nvPr/>
        </p:nvSpPr>
        <p:spPr>
          <a:xfrm>
            <a:off x="4169663" y="1874519"/>
            <a:ext cx="1988819" cy="914400"/>
          </a:xfrm>
          <a:prstGeom prst="chevron">
            <a:avLst/>
          </a:prstGeom>
          <a:solidFill>
            <a:srgbClr val="2E7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Clause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9" name="Chevron 8"/>
          <p:cNvSpPr/>
          <p:nvPr/>
        </p:nvSpPr>
        <p:spPr>
          <a:xfrm>
            <a:off x="6048755" y="1874519"/>
            <a:ext cx="1988819" cy="914400"/>
          </a:xfrm>
          <a:prstGeom prst="chevron">
            <a:avLst/>
          </a:prstGeom>
          <a:solidFill>
            <a:srgbClr val="37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Risk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scoring</a:t>
            </a:r>
          </a:p>
        </p:txBody>
      </p:sp>
      <p:sp>
        <p:nvSpPr>
          <p:cNvPr id="10" name="Chevron 9"/>
          <p:cNvSpPr/>
          <p:nvPr/>
        </p:nvSpPr>
        <p:spPr>
          <a:xfrm>
            <a:off x="7927847" y="1874519"/>
            <a:ext cx="1988819" cy="914400"/>
          </a:xfrm>
          <a:prstGeom prst="chevron">
            <a:avLst/>
          </a:prstGeom>
          <a:solidFill>
            <a:srgbClr val="3CA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Rule-based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adjudication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9806939" y="1874519"/>
            <a:ext cx="1988819" cy="914400"/>
          </a:xfrm>
          <a:prstGeom prst="chevron">
            <a:avLst/>
          </a:prstGeom>
          <a:solidFill>
            <a:srgbClr val="47AD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Human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80360"/>
            <a:ext cx="113385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 i="1">
                <a:solidFill>
                  <a:srgbClr val="3793A6"/>
                </a:solidFill>
                <a:latin typeface="Calibri"/>
              </a:rPr>
              <a:t>Code makes the decision, retrieval supplies the evidence, and the adjuster has the final say.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3246120"/>
            <a:ext cx="11521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800" b="1">
                <a:solidFill>
                  <a:srgbClr val="5583D1"/>
                </a:solidFill>
                <a:latin typeface="Calibri"/>
              </a:rPr>
              <a:t>Modelling plan (next phase)</a:t>
            </a:r>
          </a:p>
          <a:p>
            <a:pPr marL="365760" indent="-274320">
              <a:spcBef>
                <a:spcPts val="400"/>
              </a:spcBef>
              <a:buFont typeface="Arial"/>
              <a:buChar char="•"/>
            </a:pPr>
            <a:r>
              <a:rPr sz="2800" b="0">
                <a:solidFill>
                  <a:srgbClr val="242424"/>
                </a:solidFill>
                <a:latin typeface="Calibri"/>
              </a:rPr>
              <a:t>Train LR, Random Forest, Gradient Boosting &amp; XGBoost</a:t>
            </a:r>
          </a:p>
          <a:p>
            <a:pPr marL="365760" indent="-274320">
              <a:spcBef>
                <a:spcPts val="400"/>
              </a:spcBef>
              <a:buFont typeface="Arial"/>
              <a:buChar char="•"/>
            </a:pPr>
            <a:r>
              <a:rPr sz="2800" b="0">
                <a:solidFill>
                  <a:srgbClr val="242424"/>
                </a:solidFill>
                <a:latin typeface="Calibri"/>
              </a:rPr>
              <a:t>SMOTE for imbalance, SHAP to explain, MLflow to track</a:t>
            </a:r>
          </a:p>
          <a:p>
            <a:pPr marL="365760" indent="-274320">
              <a:spcBef>
                <a:spcPts val="400"/>
              </a:spcBef>
              <a:buFont typeface="Arial"/>
              <a:buChar char="•"/>
            </a:pPr>
            <a:r>
              <a:rPr sz="2800" b="0">
                <a:solidFill>
                  <a:srgbClr val="242424"/>
                </a:solidFill>
                <a:latin typeface="Calibri"/>
              </a:rPr>
              <a:t>Dense MiniLM embeddings + FAISS fused with keyword search</a:t>
            </a:r>
          </a:p>
          <a:p>
            <a:pPr marL="365760" indent="-274320">
              <a:spcBef>
                <a:spcPts val="400"/>
              </a:spcBef>
              <a:buFont typeface="Arial"/>
              <a:buChar char="•"/>
            </a:pPr>
            <a:r>
              <a:rPr sz="2800" b="0">
                <a:solidFill>
                  <a:srgbClr val="242424"/>
                </a:solidFill>
                <a:latin typeface="Calibri"/>
              </a:rPr>
              <a:t>Azure OpenAI GPT-4o to write the clause-cited rationale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Pre-processing steps applied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Pydantic validation: field types, amounts ≥ 0, text ≥ 10 chars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Derived features: claim-to-cover ratio, policy age in days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Date parsing with a safe fallback; negative gaps clipped to 0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Text: lower-casing, regex tokens (≥ 3 chars), stop-word removal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Narrative red-flag extraction using 15 weighted keywords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IDF weights pre-computed over the 17-clause policy corpus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Data Pre-processing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Data Pre-processing &amp; EDA: Insights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13385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1,500 claims  •  13 fields  •  0 missing values  •  0 duplicate IDs  •  47% fraud-prone / 53% genuine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828800"/>
          <a:ext cx="512064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1828800"/>
            <a:ext cx="58521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Average: fraud-prone vs genuine claims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286000"/>
            <a:ext cx="1828800" cy="1325880"/>
          </a:xfrm>
          <a:prstGeom prst="roundRect">
            <a:avLst>
              <a:gd name="adj" fmla="val 12000"/>
            </a:avLst>
          </a:prstGeom>
          <a:solidFill>
            <a:srgbClr val="E4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1C4D98"/>
                </a:solidFill>
                <a:latin typeface="Calibri"/>
              </a:rPr>
              <a:t>0.87 vs 0.25</a:t>
            </a:r>
          </a:p>
          <a:p>
            <a:pPr algn="ctr"/>
            <a:r>
              <a:rPr sz="1500" b="0">
                <a:solidFill>
                  <a:srgbClr val="242424"/>
                </a:solidFill>
                <a:latin typeface="Calibri"/>
              </a:rPr>
              <a:t>claim ÷ sum insured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286000"/>
            <a:ext cx="1828800" cy="1325880"/>
          </a:xfrm>
          <a:prstGeom prst="roundRect">
            <a:avLst>
              <a:gd name="adj" fmla="val 12000"/>
            </a:avLst>
          </a:prstGeom>
          <a:solidFill>
            <a:srgbClr val="E4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1C4D98"/>
                </a:solidFill>
                <a:latin typeface="Calibri"/>
              </a:rPr>
              <a:t>21 vs 176</a:t>
            </a:r>
          </a:p>
          <a:p>
            <a:pPr algn="ctr"/>
            <a:r>
              <a:rPr sz="1500" b="0">
                <a:solidFill>
                  <a:srgbClr val="242424"/>
                </a:solidFill>
                <a:latin typeface="Calibri"/>
              </a:rPr>
              <a:t>days after policy 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2286000"/>
            <a:ext cx="1828800" cy="1325880"/>
          </a:xfrm>
          <a:prstGeom prst="roundRect">
            <a:avLst>
              <a:gd name="adj" fmla="val 12000"/>
            </a:avLst>
          </a:prstGeom>
          <a:solidFill>
            <a:srgbClr val="E4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1C4D98"/>
                </a:solidFill>
                <a:latin typeface="Calibri"/>
              </a:rPr>
              <a:t>1.6 vs 0.5</a:t>
            </a:r>
          </a:p>
          <a:p>
            <a:pPr algn="ctr"/>
            <a:r>
              <a:rPr sz="1500" b="0">
                <a:solidFill>
                  <a:srgbClr val="242424"/>
                </a:solidFill>
                <a:latin typeface="Calibri"/>
              </a:rPr>
              <a:t>prior claims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840480"/>
            <a:ext cx="5852160" cy="1508760"/>
          </a:xfrm>
          <a:prstGeom prst="roundRect">
            <a:avLst>
              <a:gd name="adj" fmla="val 12000"/>
            </a:avLst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700" b="1">
                <a:solidFill>
                  <a:srgbClr val="1C4D98"/>
                </a:solidFill>
                <a:latin typeface="Calibri"/>
              </a:rPr>
              <a:t>Insight</a:t>
            </a:r>
          </a:p>
          <a:p>
            <a:pPr algn="l"/>
            <a:r>
              <a:rPr sz="1500" b="0">
                <a:solidFill>
                  <a:srgbClr val="242424"/>
                </a:solidFill>
                <a:latin typeface="Calibri"/>
              </a:rPr>
              <a:t>Policy age and cover utilisation separate the classes most, so they carry the highest weights (+32, +28). Baseline scorer: 97.3% accuracy, 100% precision, 94.3% recall on synthetic labels.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11384280" cy="38679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40280"/>
                <a:gridCol w="7315200"/>
                <a:gridCol w="182880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3152" marR="73152" marT="27432" marB="27432" anchor="ctr">
                    <a:solidFill>
                      <a:srgbClr val="1C4D9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Algorithm / tool</a:t>
                      </a:r>
                    </a:p>
                  </a:txBody>
                  <a:tcPr marL="73152" marR="73152" marT="27432" marB="27432" anchor="ctr">
                    <a:solidFill>
                      <a:srgbClr val="1C4D9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C4D9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Data &amp; schema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Python synthetic generator, Pydantic v2, Pandas, NumPy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IDF-weighted keyword search + policy-type boosting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Risk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Weighted multi-factor scorer with explainable risk factors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Decisioning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Exclusion-trigger rules + risk-tier routing (Approve / Investigate / Deny)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API &amp; UI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FastAPI + Uvicorn, Streamlit + Plotly, unittest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ML models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Logistic Regression, Random Forest, XGBoost, SHAP, MLflow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57A0A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DF0D5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Semantic 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LangChain, all-MiniLM-L6-v2, FAISS / ChromaDB, Azure OpenAI GPT-4o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57A0A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DF0D5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Cloud &amp; data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PostgreSQL, Docker → ACR → AKS, Blob, Key Vault, Azure Monitor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5486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3E8E41"/>
                </a:solidFill>
                <a:latin typeface="Calibri"/>
              </a:rPr>
              <a:t>6 of 9 milestones complete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760720" cy="237744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242424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3840479" cy="237744"/>
          </a:xfrm>
          <a:prstGeom prst="roundRect">
            <a:avLst>
              <a:gd name="adj" fmla="val 12000"/>
            </a:avLst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242424"/>
                </a:solidFill>
                <a:latin typeface="Calibri"/>
              </a:rPr>
              <a:t/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783080"/>
          <a:ext cx="11384280" cy="35661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48640"/>
                <a:gridCol w="9006840"/>
                <a:gridCol w="1828800"/>
              </a:tblGrid>
              <a:tr h="35661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C4D9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73152" marT="27432" marB="27432" anchor="ctr">
                    <a:solidFill>
                      <a:srgbClr val="1C4D9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C4D98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Problem study, requirements and task breakdown (Review 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Synthetic claims dataset: 1,500 records, 4 lines of business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Policy knowledge base (17 clauses) + keyword retriever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Multi-factor fraud risk scorer + evaluation script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Adjudication &amp; citation engine + 4 passing unit tests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FastAPI service + Streamlit adjuster dashboard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Scale to 10k–50k claims; train XGBoost &amp; baselines in MLflow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57A0A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DF0D5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Dense embeddings + FAISS hybrid retrieval, GPT-4o rationale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57A0A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DF0D5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Docker → ACR → AKS deployment, CI/CD, drift monitoring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1 | Claim Sense: RAG Claims Adjudication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69748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42424"/>
                </a:solidFill>
                <a:latin typeface="Calibri"/>
              </a:rPr>
              <a:t>Claim input</a:t>
            </a:r>
          </a:p>
          <a:p>
            <a:pPr algn="ctr"/>
            <a:r>
              <a:rPr sz="1300" b="0">
                <a:solidFill>
                  <a:srgbClr val="242424"/>
                </a:solidFill>
                <a:latin typeface="Calibri"/>
              </a:rPr>
              <a:t>amounts, dates, history + incident narrative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69748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FastAPI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POST /claims/adjudicate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46304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E4F3F4"/>
          </a:solidFill>
          <a:ln w="15875">
            <a:solidFill>
              <a:srgbClr val="379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42424"/>
                </a:solidFill>
                <a:latin typeface="Calibri"/>
              </a:rPr>
              <a:t>Risk Classifier</a:t>
            </a:r>
          </a:p>
          <a:p>
            <a:pPr algn="ctr"/>
            <a:r>
              <a:rPr sz="1300" b="0">
                <a:solidFill>
                  <a:srgbClr val="242424"/>
                </a:solidFill>
                <a:latin typeface="Calibri"/>
              </a:rPr>
              <a:t>4 signals → score 0–100, Low/Med/High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24612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E4F3F4"/>
          </a:solidFill>
          <a:ln w="15875">
            <a:solidFill>
              <a:srgbClr val="379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42424"/>
                </a:solidFill>
                <a:latin typeface="Calibri"/>
              </a:rPr>
              <a:t>Policy Retriever</a:t>
            </a:r>
          </a:p>
          <a:p>
            <a:pPr algn="ctr"/>
            <a:r>
              <a:rPr sz="1300" b="0">
                <a:solidFill>
                  <a:srgbClr val="242424"/>
                </a:solidFill>
                <a:latin typeface="Calibri"/>
              </a:rPr>
              <a:t>keyword + type boost → top-3 clauses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4663440"/>
            <a:ext cx="1965960" cy="731520"/>
          </a:xfrm>
          <a:prstGeom prst="roundRect">
            <a:avLst>
              <a:gd name="adj" fmla="val 12000"/>
            </a:avLst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42424"/>
                </a:solidFill>
                <a:latin typeface="Calibri"/>
              </a:rPr>
              <a:t>Policy KB</a:t>
            </a:r>
          </a:p>
          <a:p>
            <a:pPr algn="ctr"/>
            <a:r>
              <a:rPr sz="1300" b="0">
                <a:solidFill>
                  <a:srgbClr val="242424"/>
                </a:solidFill>
                <a:latin typeface="Calibri"/>
              </a:rPr>
              <a:t>17 clauses + IRDAI circular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69748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37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Adjudication Engine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exclusion check → risk 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146304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42424"/>
                </a:solidFill>
                <a:latin typeface="Calibri"/>
              </a:rPr>
              <a:t>Recommendation</a:t>
            </a:r>
          </a:p>
          <a:p>
            <a:pPr algn="ctr"/>
            <a:r>
              <a:rPr sz="1300" b="0">
                <a:solidFill>
                  <a:srgbClr val="242424"/>
                </a:solidFill>
                <a:latin typeface="Calibri"/>
              </a:rPr>
              <a:t>Approve / Investigate / Deny + cited clauses +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361188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FDF0D5"/>
          </a:solidFill>
          <a:ln w="15875">
            <a:solidFill>
              <a:srgbClr val="C57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242424"/>
                </a:solidFill>
                <a:latin typeface="Calibri"/>
              </a:rPr>
              <a:t>Adjuster dashboard</a:t>
            </a:r>
          </a:p>
          <a:p>
            <a:pPr algn="ctr"/>
            <a:r>
              <a:rPr sz="1300" b="0">
                <a:solidFill>
                  <a:srgbClr val="242424"/>
                </a:solidFill>
                <a:latin typeface="Calibri"/>
              </a:rPr>
              <a:t>Streamlit: human review &amp; sign-off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7440" y="3291840"/>
            <a:ext cx="365760" cy="0"/>
          </a:xfrm>
          <a:prstGeom prst="line">
            <a:avLst/>
          </a:prstGeom>
          <a:ln w="25400">
            <a:solidFill>
              <a:srgbClr val="379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09160" y="3017520"/>
            <a:ext cx="137160" cy="0"/>
          </a:xfrm>
          <a:prstGeom prst="line">
            <a:avLst/>
          </a:prstGeom>
          <a:ln w="25400">
            <a:solidFill>
              <a:srgbClr val="37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846320" y="2057400"/>
            <a:ext cx="0" cy="960120"/>
          </a:xfrm>
          <a:prstGeom prst="line">
            <a:avLst/>
          </a:prstGeom>
          <a:ln w="25400">
            <a:solidFill>
              <a:srgbClr val="37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46320" y="2057400"/>
            <a:ext cx="228600" cy="0"/>
          </a:xfrm>
          <a:prstGeom prst="line">
            <a:avLst/>
          </a:prstGeom>
          <a:ln w="25400">
            <a:solidFill>
              <a:srgbClr val="379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09160" y="3566160"/>
            <a:ext cx="137160" cy="0"/>
          </a:xfrm>
          <a:prstGeom prst="line">
            <a:avLst/>
          </a:prstGeom>
          <a:ln w="25400">
            <a:solidFill>
              <a:srgbClr val="37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46320" y="3566160"/>
            <a:ext cx="0" cy="274320"/>
          </a:xfrm>
          <a:prstGeom prst="line">
            <a:avLst/>
          </a:prstGeom>
          <a:ln w="25400">
            <a:solidFill>
              <a:srgbClr val="37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46320" y="3840480"/>
            <a:ext cx="228600" cy="0"/>
          </a:xfrm>
          <a:prstGeom prst="line">
            <a:avLst/>
          </a:prstGeom>
          <a:ln w="25400">
            <a:solidFill>
              <a:srgbClr val="379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057900" y="4434840"/>
            <a:ext cx="0" cy="228600"/>
          </a:xfrm>
          <a:prstGeom prst="line">
            <a:avLst/>
          </a:prstGeom>
          <a:ln w="25400">
            <a:solidFill>
              <a:srgbClr val="379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40879" y="2057400"/>
            <a:ext cx="182881" cy="0"/>
          </a:xfrm>
          <a:prstGeom prst="line">
            <a:avLst/>
          </a:prstGeom>
          <a:ln w="25400">
            <a:solidFill>
              <a:srgbClr val="37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23760" y="2057400"/>
            <a:ext cx="0" cy="960120"/>
          </a:xfrm>
          <a:prstGeom prst="line">
            <a:avLst/>
          </a:prstGeom>
          <a:ln w="25400">
            <a:solidFill>
              <a:srgbClr val="37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23760" y="3017520"/>
            <a:ext cx="182880" cy="0"/>
          </a:xfrm>
          <a:prstGeom prst="line">
            <a:avLst/>
          </a:prstGeom>
          <a:ln w="25400">
            <a:solidFill>
              <a:srgbClr val="379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40879" y="3840480"/>
            <a:ext cx="182881" cy="0"/>
          </a:xfrm>
          <a:prstGeom prst="line">
            <a:avLst/>
          </a:prstGeom>
          <a:ln w="25400">
            <a:solidFill>
              <a:srgbClr val="37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223760" y="3566160"/>
            <a:ext cx="0" cy="274320"/>
          </a:xfrm>
          <a:prstGeom prst="line">
            <a:avLst/>
          </a:prstGeom>
          <a:ln w="25400">
            <a:solidFill>
              <a:srgbClr val="37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223760" y="3566160"/>
            <a:ext cx="182880" cy="0"/>
          </a:xfrm>
          <a:prstGeom prst="line">
            <a:avLst/>
          </a:prstGeom>
          <a:ln w="25400">
            <a:solidFill>
              <a:srgbClr val="379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72600" y="3017520"/>
            <a:ext cx="182880" cy="0"/>
          </a:xfrm>
          <a:prstGeom prst="line">
            <a:avLst/>
          </a:prstGeom>
          <a:ln w="25400">
            <a:solidFill>
              <a:srgbClr val="37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555480" y="2171700"/>
            <a:ext cx="0" cy="845820"/>
          </a:xfrm>
          <a:prstGeom prst="line">
            <a:avLst/>
          </a:prstGeom>
          <a:ln w="25400">
            <a:solidFill>
              <a:srgbClr val="37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555480" y="2171700"/>
            <a:ext cx="182880" cy="0"/>
          </a:xfrm>
          <a:prstGeom prst="line">
            <a:avLst/>
          </a:prstGeom>
          <a:ln w="25400">
            <a:solidFill>
              <a:srgbClr val="379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721340" y="2880360"/>
            <a:ext cx="0" cy="731520"/>
          </a:xfrm>
          <a:prstGeom prst="line">
            <a:avLst/>
          </a:prstGeom>
          <a:ln w="25400">
            <a:solidFill>
              <a:srgbClr val="379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" y="1417320"/>
            <a:ext cx="42062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Output schema: AdjudicationResponse</a:t>
            </a:r>
          </a:p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(recommendation, risk level &amp; score, risk factors, cited clauses, rationale, action items)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The problem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EPC sites log thousands of safety observations, near-misses, NCRs &amp; DPRs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Engineers cross-check IS codes and BOCW / OSHA norms by hand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Hours per incident; root causes tracked inconsistently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Result: repeat safety violations and project delays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What Site Guard AI does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Five specialised agents turn a free-text report into a code-cited root cause, a CAPA plan and an escalation decision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Build a multi-agent incident resolution system that can: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Structure free-text reports: trade, severity, type, contractor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Retrieve the governing IS / BOCW / OSHA clause for the hazard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Find the root cause with 5-Why and FMEA risk priority numbers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Draft CAPA actions with an owner and due date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Escalate Critical cases and show every agent step in a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6052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Task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800" b="0">
                <a:solidFill>
                  <a:srgbClr val="242424"/>
                </a:solidFill>
                <a:latin typeface="Calibri"/>
              </a:rPr>
              <a:t>Create realistic site incident reports across trades and sites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Implementation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1,000 incidents: 7 trades, 6 EPC sites, 6 contractors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4 report types: Observation, Near Miss, NCR, Unsafe Act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Severity labels: Critical, High, Medium per scenario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Pydantic schemas: IncidentInput, TriageResult, AgentTraceStep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Synthetic Incident Data Generation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80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596128"/>
            <a:ext cx="7223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Calibri"/>
              </a:rPr>
              <a:t>Code: src/data/generate_synthetic_data.py, src/data/schema.py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6052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Task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800" b="0">
                <a:solidFill>
                  <a:srgbClr val="242424"/>
                </a:solidFill>
                <a:latin typeface="Calibri"/>
              </a:rPr>
              <a:t>Turn a free-text report into structured incident fields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Implementation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25 hazard keywords mapped to 8 trade categories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Severity rules: Critical / High / Medium / Low phrases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Detects report type (NCR, Near Miss, Observation)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Regex extracts the contractor name when not supplied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Intake Agent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80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596128"/>
            <a:ext cx="7223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Calibri"/>
              </a:rPr>
              <a:t>Code: src/agents/intake_agent.py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6052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Task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800" b="0">
                <a:solidFill>
                  <a:srgbClr val="242424"/>
                </a:solidFill>
                <a:latin typeface="Calibri"/>
              </a:rPr>
              <a:t>Cite the regulation that governs the reported hazard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Implementation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9 clauses: IS 3696, 3764, 4014, 13416, 456, BOCW, OSHA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Score = token overlap × trade match (×2.0)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+10 bonus for guardrail, trench, harness, welding permit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Returns the top-2 clauses with a relevance score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Retrieval Agent (Regulation RAG)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80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596128"/>
            <a:ext cx="7223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Calibri"/>
              </a:rPr>
              <a:t>Code: src/agents/retrieval_agent.py, src/rag/regulations.py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6052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Task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800" b="0">
                <a:solidFill>
                  <a:srgbClr val="242424"/>
                </a:solidFill>
                <a:latin typeface="Calibri"/>
              </a:rPr>
              <a:t>Explain why the incident happened, not just what happened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Implementation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5-Why chain and failure mode for each trade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FMEA RPN = Severity × Occurrence × Detection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Example: scaffolding RPN 280 = 8 × 7 × 5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RPN library ranges from 210 (concrete) to 360 (electrical)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– Root-Cause Agent (5-Why &amp; FMEA)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80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596128"/>
            <a:ext cx="7223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Calibri"/>
              </a:rPr>
              <a:t>Code: src/agents/root_cause_agent.py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6052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Task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800" b="0">
                <a:solidFill>
                  <a:srgbClr val="242424"/>
                </a:solidFill>
                <a:latin typeface="Calibri"/>
              </a:rPr>
              <a:t>Fix the hazard, prevent recurrence and alert the right people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Implementation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CAPA: immediate correction + preventive action, owner, due date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Critical severity halves the target closure time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Critical → Tier 1 stop-work, 2 h SLA; High → Tier 2, 6 h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Medium → 24 h supervisor notice; Low → DPR log, 48 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– CAPA &amp; Escalation Agents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80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596128"/>
            <a:ext cx="7223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Calibri"/>
              </a:rPr>
              <a:t>Code: src/agents/corrective_action_agent.py, escalation_agent.py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6052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Task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800" b="0">
                <a:solidFill>
                  <a:srgbClr val="242424"/>
                </a:solidFill>
                <a:latin typeface="Calibri"/>
              </a:rPr>
              <a:t>Run the agents end to end and present results to site teams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Implementation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MultiAgentPipeline runs 5 agents in order, logging a trace step each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FastAPI (port 8090): triage, incidents, regulations, analytics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Streamlit (port 8502): Triage, Queue, EHS Analytics, IS Codes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6 unit tests pass, incl. critical stop-work and end-to-end run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6 – Orchestrator, API &amp; Dashboard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80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5596128"/>
            <a:ext cx="72237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400" b="0" i="1">
                <a:solidFill>
                  <a:srgbClr val="6B6B6B"/>
                </a:solidFill>
                <a:latin typeface="Calibri"/>
              </a:rPr>
              <a:t>Code: src/agents/pipeline.py, src/api/main.py, src/dashboard/app.py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54864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Methodology followed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Methodology / Modelling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874519"/>
            <a:ext cx="1988819" cy="914400"/>
          </a:xfrm>
          <a:prstGeom prst="homePlat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Report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7" name="Chevron 6"/>
          <p:cNvSpPr/>
          <p:nvPr/>
        </p:nvSpPr>
        <p:spPr>
          <a:xfrm>
            <a:off x="2290572" y="1874519"/>
            <a:ext cx="1988819" cy="914400"/>
          </a:xfrm>
          <a:prstGeom prst="chevron">
            <a:avLst/>
          </a:prstGeom>
          <a:solidFill>
            <a:srgbClr val="266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Regulation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8" name="Chevron 7"/>
          <p:cNvSpPr/>
          <p:nvPr/>
        </p:nvSpPr>
        <p:spPr>
          <a:xfrm>
            <a:off x="4169663" y="1874519"/>
            <a:ext cx="1988819" cy="914400"/>
          </a:xfrm>
          <a:prstGeom prst="chevron">
            <a:avLst/>
          </a:prstGeom>
          <a:solidFill>
            <a:srgbClr val="2E7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Root cause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5-Why / FMEA</a:t>
            </a:r>
          </a:p>
        </p:txBody>
      </p:sp>
      <p:sp>
        <p:nvSpPr>
          <p:cNvPr id="9" name="Chevron 8"/>
          <p:cNvSpPr/>
          <p:nvPr/>
        </p:nvSpPr>
        <p:spPr>
          <a:xfrm>
            <a:off x="6048755" y="1874519"/>
            <a:ext cx="1988819" cy="914400"/>
          </a:xfrm>
          <a:prstGeom prst="chevron">
            <a:avLst/>
          </a:prstGeom>
          <a:solidFill>
            <a:srgbClr val="37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CAPA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drafting</a:t>
            </a:r>
          </a:p>
        </p:txBody>
      </p:sp>
      <p:sp>
        <p:nvSpPr>
          <p:cNvPr id="10" name="Chevron 9"/>
          <p:cNvSpPr/>
          <p:nvPr/>
        </p:nvSpPr>
        <p:spPr>
          <a:xfrm>
            <a:off x="7927847" y="1874519"/>
            <a:ext cx="1988819" cy="914400"/>
          </a:xfrm>
          <a:prstGeom prst="chevron">
            <a:avLst/>
          </a:prstGeom>
          <a:solidFill>
            <a:srgbClr val="3CA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Tiered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escalation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9806939" y="1874519"/>
            <a:ext cx="1988819" cy="914400"/>
          </a:xfrm>
          <a:prstGeom prst="chevron">
            <a:avLst/>
          </a:prstGeom>
          <a:solidFill>
            <a:srgbClr val="47AD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Officer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80360"/>
            <a:ext cx="113385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 i="1">
                <a:solidFill>
                  <a:srgbClr val="3793A6"/>
                </a:solidFill>
                <a:latin typeface="Calibri"/>
              </a:rPr>
              <a:t>Each agent owns one step and records a trace, so every decision can be audited.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3246120"/>
            <a:ext cx="11521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800" b="1">
                <a:solidFill>
                  <a:srgbClr val="5583D1"/>
                </a:solidFill>
                <a:latin typeface="Calibri"/>
              </a:rPr>
              <a:t>Modelling plan (next phase)</a:t>
            </a:r>
          </a:p>
          <a:p>
            <a:pPr marL="365760" indent="-274320">
              <a:spcBef>
                <a:spcPts val="400"/>
              </a:spcBef>
              <a:buFont typeface="Arial"/>
              <a:buChar char="•"/>
            </a:pPr>
            <a:r>
              <a:rPr sz="2800" b="0">
                <a:solidFill>
                  <a:srgbClr val="242424"/>
                </a:solidFill>
                <a:latin typeface="Calibri"/>
              </a:rPr>
              <a:t>Port the orchestrator to a LangGraph StateGraph</a:t>
            </a:r>
          </a:p>
          <a:p>
            <a:pPr marL="365760" indent="-274320">
              <a:spcBef>
                <a:spcPts val="400"/>
              </a:spcBef>
              <a:buFont typeface="Arial"/>
              <a:buChar char="•"/>
            </a:pPr>
            <a:r>
              <a:rPr sz="2800" b="0">
                <a:solidFill>
                  <a:srgbClr val="242424"/>
                </a:solidFill>
                <a:latin typeface="Calibri"/>
              </a:rPr>
              <a:t>Llama 3.1 8B (Ollama) for intake &amp; 5-Why; GPT-4o fallback</a:t>
            </a:r>
          </a:p>
          <a:p>
            <a:pPr marL="365760" indent="-274320">
              <a:spcBef>
                <a:spcPts val="400"/>
              </a:spcBef>
              <a:buFont typeface="Arial"/>
              <a:buChar char="•"/>
            </a:pPr>
            <a:r>
              <a:rPr sz="2800" b="0">
                <a:solidFill>
                  <a:srgbClr val="242424"/>
                </a:solidFill>
                <a:latin typeface="Calibri"/>
              </a:rPr>
              <a:t>Embed IS / BOCW corpus with MiniLM in ChromaDB / Qdrant</a:t>
            </a:r>
          </a:p>
          <a:p>
            <a:pPr marL="365760" indent="-274320">
              <a:spcBef>
                <a:spcPts val="400"/>
              </a:spcBef>
              <a:buFont typeface="Arial"/>
              <a:buChar char="•"/>
            </a:pPr>
            <a:r>
              <a:rPr sz="2800" b="0">
                <a:solidFill>
                  <a:srgbClr val="242424"/>
                </a:solidFill>
                <a:latin typeface="Calibri"/>
              </a:rPr>
              <a:t>Scale to 5k–15k records and score each agent’s accuracy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298448"/>
            <a:ext cx="11521440" cy="4114800"/>
          </a:xfrm>
        </p:spPr>
        <p:txBody>
          <a:bodyPr wrap="square"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sz="2800" b="1">
                <a:solidFill>
                  <a:srgbClr val="5583D1"/>
                </a:solidFill>
                <a:latin typeface="Calibri"/>
              </a:rPr>
              <a:t>Pre-processing steps applied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Pydantic validation with trade, severity and type enums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Text normalisation: lower-casing and regex tokenisation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Keyword mapping of 25 hazard terms to 8 trade categories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Regex extraction of contractor names from free text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Regulations tagged by trade for filtered retrieval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2800" b="0">
                <a:solidFill>
                  <a:srgbClr val="242424"/>
                </a:solidFill>
                <a:latin typeface="Calibri"/>
              </a:rPr>
              <a:t>Quality check: 1,000 rows, 10 fields, 0 missing, 0 duplicates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Data Pre-processing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Data Pre-processing &amp; EDA: Insights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325880"/>
          <a:ext cx="57607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371600"/>
            <a:ext cx="5303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Severity mix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783080"/>
            <a:ext cx="1645920" cy="1143000"/>
          </a:xfrm>
          <a:prstGeom prst="roundRect">
            <a:avLst>
              <a:gd name="adj" fmla="val 12000"/>
            </a:avLst>
          </a:prstGeom>
          <a:solidFill>
            <a:srgbClr val="E4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1C4D98"/>
                </a:solidFill>
                <a:latin typeface="Calibri"/>
              </a:rPr>
              <a:t>529</a:t>
            </a:r>
          </a:p>
          <a:p>
            <a:pPr algn="ctr"/>
            <a:r>
              <a:rPr sz="1500" b="0">
                <a:solidFill>
                  <a:srgbClr val="242424"/>
                </a:solidFill>
                <a:latin typeface="Calibri"/>
              </a:rPr>
              <a:t>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783080"/>
            <a:ext cx="1645920" cy="1143000"/>
          </a:xfrm>
          <a:prstGeom prst="roundRect">
            <a:avLst>
              <a:gd name="adj" fmla="val 12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C57A0A"/>
                </a:solidFill>
                <a:latin typeface="Calibri"/>
              </a:rPr>
              <a:t>294</a:t>
            </a:r>
          </a:p>
          <a:p>
            <a:pPr algn="ctr"/>
            <a:r>
              <a:rPr sz="1500" b="0">
                <a:solidFill>
                  <a:srgbClr val="242424"/>
                </a:solidFill>
                <a:latin typeface="Calibri"/>
              </a:rPr>
              <a:t>Critical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49840" y="1783080"/>
            <a:ext cx="1645920" cy="11430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6B6B6B"/>
                </a:solidFill>
                <a:latin typeface="Calibri"/>
              </a:rPr>
              <a:t>177</a:t>
            </a:r>
          </a:p>
          <a:p>
            <a:pPr algn="ctr"/>
            <a:r>
              <a:rPr sz="1500" b="0">
                <a:solidFill>
                  <a:srgbClr val="242424"/>
                </a:solidFill>
                <a:latin typeface="Calibri"/>
              </a:rPr>
              <a:t>Medium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154680"/>
            <a:ext cx="5303520" cy="2240280"/>
          </a:xfrm>
          <a:prstGeom prst="roundRect">
            <a:avLst>
              <a:gd name="adj" fmla="val 12000"/>
            </a:avLst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700" b="1">
                <a:solidFill>
                  <a:srgbClr val="1C4D98"/>
                </a:solidFill>
                <a:latin typeface="Calibri"/>
              </a:rPr>
              <a:t>Baseline finding</a:t>
            </a:r>
          </a:p>
          <a:p>
            <a:pPr algn="l"/>
            <a:r>
              <a:rPr sz="1500" b="0">
                <a:solidFill>
                  <a:srgbClr val="242424"/>
                </a:solidFill>
                <a:latin typeface="Calibri"/>
              </a:rPr>
              <a:t>Rule-based Intake Agent vs dataset labels: trade matched on 59.8% and severity on 12.6% of records.</a:t>
            </a:r>
          </a:p>
          <a:p>
            <a:pPr algn="l"/>
            <a:r>
              <a:rPr sz="1500" b="0">
                <a:solidFill>
                  <a:srgbClr val="242424"/>
                </a:solidFill>
                <a:latin typeface="Calibri"/>
              </a:rPr>
              <a:t>Keywords miss context (e.g. “Scaffolding” inside a contractor name), which is why the next phase moves intake to an LLM.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11384280" cy="38679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40280"/>
                <a:gridCol w="7315200"/>
                <a:gridCol w="182880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3152" marR="73152" marT="27432" marB="27432" anchor="ctr">
                    <a:solidFill>
                      <a:srgbClr val="1C4D9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Algorithm / tool</a:t>
                      </a:r>
                    </a:p>
                  </a:txBody>
                  <a:tcPr marL="73152" marR="73152" marT="27432" marB="27432" anchor="ctr">
                    <a:solidFill>
                      <a:srgbClr val="1C4D9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C4D9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Python MultiAgentPipeline with per-agent trace logging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Intake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Keyword → trade mapping, severity rules, regex extraction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Token-overlap scoring × trade multiplier + keyword triggers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Reasoning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5-Why chains, FMEA RPN library, CAPA templates, tiered escalation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API &amp; UI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FastAPI + Pydantic, Streamlit, unittest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Agent graph &amp; LLM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LangGraph StateGraph, Ollama Llama 3.1 8B, Azure OpenAI GPT-4o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57A0A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DF0D5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Vector 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Sentence Transformers (MiniLM), ChromaDB / Qdrant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57A0A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DF0D5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Data &amp; cloud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PostgreSQL audit trail, Docker Compose → Azure ACI / AKS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5486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 i="0">
                <a:solidFill>
                  <a:srgbClr val="3E8E41"/>
                </a:solidFill>
                <a:latin typeface="Calibri"/>
              </a:rPr>
              <a:t>6 of 9 milestones complete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760720" cy="237744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242424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3840479" cy="237744"/>
          </a:xfrm>
          <a:prstGeom prst="roundRect">
            <a:avLst>
              <a:gd name="adj" fmla="val 12000"/>
            </a:avLst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242424"/>
                </a:solidFill>
                <a:latin typeface="Calibri"/>
              </a:rPr>
              <a:t/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783080"/>
          <a:ext cx="11384280" cy="35661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48640"/>
                <a:gridCol w="9006840"/>
                <a:gridCol w="1828800"/>
              </a:tblGrid>
              <a:tr h="35661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C4D9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73152" marT="27432" marB="27432" anchor="ctr">
                    <a:solidFill>
                      <a:srgbClr val="1C4D9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C4D98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Problem study, requirements and task breakdown (Review 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Synthetic incident dataset: 1,000 records, 7 trades, 6 sites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Regulation corpus (9 clauses) + Retrieval 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Intake, Root-Cause, CAPA and Escalation agents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Multi-agent orchestrator with agent trace + 6 passing tests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FastAPI service + Streamlit operations dashboard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3E8E41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2F0D9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LangGraph StateGraph + Llama 3.1 LLM-based agents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57A0A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DF0D5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Vector RAG (ChromaDB / Qdrant); scale data to 5k–15k records</a:t>
                      </a:r>
                    </a:p>
                  </a:txBody>
                  <a:tcPr marL="73152" marR="73152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57A0A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DF0D5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4242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42424"/>
                          </a:solidFill>
                          <a:latin typeface="Calibri"/>
                        </a:rPr>
                        <a:t>PostgreSQL audit trail; Docker → Azure deployment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840480" y="57036"/>
            <a:ext cx="825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</a:rPr>
              <a:t>Project 2 | Site Guard AI: Multi-Agent Safety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331720"/>
            <a:ext cx="1691640" cy="132588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42424"/>
                </a:solidFill>
                <a:latin typeface="Calibri"/>
              </a:rPr>
              <a:t>Incident report</a:t>
            </a:r>
          </a:p>
          <a:p>
            <a:pPr algn="ctr"/>
            <a:r>
              <a:rPr sz="1200" b="0">
                <a:solidFill>
                  <a:srgbClr val="242424"/>
                </a:solidFill>
                <a:latin typeface="Calibri"/>
              </a:rPr>
              <a:t>free text: observation, near-miss, NCR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783080"/>
            <a:ext cx="9418320" cy="24231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5875">
            <a:solidFill>
              <a:srgbClr val="1C4D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600" b="0">
                <a:solidFill>
                  <a:srgbClr val="242424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0"/>
            <a:ext cx="90525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1C4D98"/>
                </a:solidFill>
                <a:latin typeface="Calibri"/>
              </a:rPr>
              <a:t>MultiAgentPipeline (orchestrator) – each agent returns output + trace 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331720"/>
            <a:ext cx="1664208" cy="132588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1. Intake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trade, severity, type, contractor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24528" y="2990087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25696" y="2331720"/>
            <a:ext cx="1664208" cy="1325880"/>
          </a:xfrm>
          <a:prstGeom prst="roundRect">
            <a:avLst>
              <a:gd name="adj" fmla="val 12000"/>
            </a:avLst>
          </a:prstGeom>
          <a:solidFill>
            <a:srgbClr val="37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2. Retrieval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top-2 IS / BOCW / OSHA clauses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9904" y="2990087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91072" y="2331720"/>
            <a:ext cx="1664208" cy="132588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3. Root-Cause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5-Why chain + FMEA RPN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79" y="2990087"/>
            <a:ext cx="201169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56448" y="2331720"/>
            <a:ext cx="1664208" cy="1325880"/>
          </a:xfrm>
          <a:prstGeom prst="roundRect">
            <a:avLst>
              <a:gd name="adj" fmla="val 12000"/>
            </a:avLst>
          </a:prstGeom>
          <a:solidFill>
            <a:srgbClr val="37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4. CAPA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actions, owner, due date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20656" y="2990087"/>
            <a:ext cx="201168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21824" y="2331720"/>
            <a:ext cx="1664208" cy="1325880"/>
          </a:xfrm>
          <a:prstGeom prst="roundRect">
            <a:avLst>
              <a:gd name="adj" fmla="val 12000"/>
            </a:avLst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5. Escalation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tier, SLA, stop-work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03120" y="2990087"/>
            <a:ext cx="457200" cy="0"/>
          </a:xfrm>
          <a:prstGeom prst="line">
            <a:avLst/>
          </a:prstGeom>
          <a:ln w="25400">
            <a:solidFill>
              <a:srgbClr val="379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06240" y="452628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242424"/>
                </a:solidFill>
                <a:latin typeface="Calibri"/>
              </a:rPr>
              <a:t>Regulation corpus</a:t>
            </a:r>
          </a:p>
          <a:p>
            <a:pPr algn="ctr"/>
            <a:r>
              <a:rPr sz="1200" b="0">
                <a:solidFill>
                  <a:srgbClr val="242424"/>
                </a:solidFill>
                <a:latin typeface="Calibri"/>
              </a:rPr>
              <a:t>9 clauses tagged by trade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257800" y="3657600"/>
            <a:ext cx="0" cy="868680"/>
          </a:xfrm>
          <a:prstGeom prst="line">
            <a:avLst/>
          </a:prstGeom>
          <a:ln w="25400">
            <a:solidFill>
              <a:srgbClr val="379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0" y="4526280"/>
            <a:ext cx="2834640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242424"/>
                </a:solidFill>
                <a:latin typeface="Calibri"/>
              </a:rPr>
              <a:t>TriageResult</a:t>
            </a:r>
          </a:p>
          <a:p>
            <a:pPr algn="ctr"/>
            <a:r>
              <a:rPr sz="1200" b="0">
                <a:solidFill>
                  <a:srgbClr val="242424"/>
                </a:solidFill>
                <a:latin typeface="Calibri"/>
              </a:rPr>
              <a:t>severity, codes, root cause, CAPA, escalation, trace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4526280"/>
            <a:ext cx="2148840" cy="868680"/>
          </a:xfrm>
          <a:prstGeom prst="roundRect">
            <a:avLst>
              <a:gd name="adj" fmla="val 12000"/>
            </a:avLst>
          </a:prstGeom>
          <a:solidFill>
            <a:srgbClr val="FDF0D5"/>
          </a:solidFill>
          <a:ln w="15875">
            <a:solidFill>
              <a:srgbClr val="C57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42424"/>
                </a:solidFill>
                <a:latin typeface="Calibri"/>
              </a:rPr>
              <a:t>FastAPI :8090 → Streamlit :8502</a:t>
            </a:r>
          </a:p>
          <a:p>
            <a:pPr algn="ctr"/>
            <a:r>
              <a:rPr sz="1200" b="0">
                <a:solidFill>
                  <a:srgbClr val="242424"/>
                </a:solidFill>
                <a:latin typeface="Calibri"/>
              </a:rPr>
              <a:t>safety officer review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853928" y="3657600"/>
            <a:ext cx="0" cy="713232"/>
          </a:xfrm>
          <a:prstGeom prst="line">
            <a:avLst/>
          </a:prstGeom>
          <a:ln w="25400">
            <a:solidFill>
              <a:srgbClr val="37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001000" y="4370832"/>
            <a:ext cx="2852928" cy="0"/>
          </a:xfrm>
          <a:prstGeom prst="line">
            <a:avLst/>
          </a:prstGeom>
          <a:ln w="25400">
            <a:solidFill>
              <a:srgbClr val="37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01000" y="4370832"/>
            <a:ext cx="0" cy="155448"/>
          </a:xfrm>
          <a:prstGeom prst="line">
            <a:avLst/>
          </a:prstGeom>
          <a:ln w="25400">
            <a:solidFill>
              <a:srgbClr val="379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18320" y="4956048"/>
            <a:ext cx="228600" cy="0"/>
          </a:xfrm>
          <a:prstGeom prst="line">
            <a:avLst/>
          </a:prstGeom>
          <a:ln w="25400">
            <a:solidFill>
              <a:srgbClr val="3793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181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12</cp:revision>
  <dcterms:created xsi:type="dcterms:W3CDTF">2024-05-13T10:33:11Z</dcterms:created>
  <dcterms:modified xsi:type="dcterms:W3CDTF">2025-09-20T12:01:52Z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